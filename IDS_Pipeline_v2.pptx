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188720"/>
            <a:ext cx="4572000" cy="4572000"/>
          </a:xfrm>
          <a:prstGeom prst="ellipse">
            <a:avLst/>
          </a:prstGeom>
          <a:solidFill>
            <a:srgbClr val="0096C7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2926080"/>
            <a:ext cx="3657600" cy="3657600"/>
          </a:xfrm>
          <a:prstGeom prst="ellipse">
            <a:avLst/>
          </a:prstGeom>
          <a:solidFill>
            <a:srgbClr val="0096C7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Pipeline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UNSW-NB15  —  Network Intrusion Detection System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2743200" cy="384048"/>
          </a:xfrm>
          <a:prstGeom prst="rect">
            <a:avLst/>
          </a:prstGeom>
          <a:solidFill>
            <a:srgbClr val="243447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8254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29968" y="284378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NaN cols filled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56432" y="2788920"/>
            <a:ext cx="2743200" cy="384048"/>
          </a:xfrm>
          <a:prstGeom prst="rect">
            <a:avLst/>
          </a:prstGeom>
          <a:solidFill>
            <a:srgbClr val="243447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47872" y="28254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37760" y="284378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OrdinalEncoder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364224" y="2788920"/>
            <a:ext cx="2743200" cy="384048"/>
          </a:xfrm>
          <a:prstGeom prst="rect">
            <a:avLst/>
          </a:prstGeom>
          <a:solidFill>
            <a:srgbClr val="243447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55664" y="28254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Transform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845552" y="284378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skewed cols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2743200" cy="384048"/>
          </a:xfrm>
          <a:prstGeom prst="rect">
            <a:avLst/>
          </a:prstGeom>
          <a:solidFill>
            <a:srgbClr val="243447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32841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Split Regimes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29968" y="334670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+ Time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56432" y="3291840"/>
            <a:ext cx="2743200" cy="384048"/>
          </a:xfrm>
          <a:prstGeom prst="rect">
            <a:avLst/>
          </a:prstGeom>
          <a:solidFill>
            <a:srgbClr val="243447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547872" y="332841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334670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· Flow · Subnet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364224" y="3291840"/>
            <a:ext cx="2743200" cy="384048"/>
          </a:xfrm>
          <a:prstGeom prst="rect">
            <a:avLst/>
          </a:prstGeom>
          <a:solidFill>
            <a:srgbClr val="243447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55664" y="332841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45552" y="334670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 · LGB · RF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3794760"/>
            <a:ext cx="2743200" cy="384048"/>
          </a:xfrm>
          <a:prstGeom prst="rect">
            <a:avLst/>
          </a:prstGeom>
          <a:solidFill>
            <a:srgbClr val="243447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" y="383133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029968" y="384962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/ Recall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56432" y="3794760"/>
            <a:ext cx="2743200" cy="384048"/>
          </a:xfrm>
          <a:prstGeom prst="rect">
            <a:avLst/>
          </a:prstGeom>
          <a:solidFill>
            <a:srgbClr val="243447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547872" y="383133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384962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364224" y="3794760"/>
            <a:ext cx="2743200" cy="384048"/>
          </a:xfrm>
          <a:prstGeom prst="rect">
            <a:avLst/>
          </a:prstGeom>
          <a:solidFill>
            <a:srgbClr val="243447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55664" y="383133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845552" y="384962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 Scaling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667512"/>
            <a:ext cx="8321040" cy="0"/>
          </a:xfrm>
          <a:prstGeom prst="line">
            <a:avLst/>
          </a:prstGeom>
          <a:noFill/>
          <a:ln w="10160">
            <a:solidFill>
              <a:srgbClr val="0096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0408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wrong and exactly how it was fixed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877824"/>
          </a:xfrm>
          <a:prstGeom prst="rect">
            <a:avLst/>
          </a:prstGeom>
          <a:solidFill>
            <a:srgbClr val="243447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54864" cy="877824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515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9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ct_ftp_cmd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9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ct_flw_http_mthd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9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is_ftp_login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87168" y="1097280"/>
            <a:ext cx="0" cy="694944"/>
          </a:xfrm>
          <a:prstGeom prst="line">
            <a:avLst/>
          </a:prstGeom>
          <a:noFill/>
          <a:ln w="5080">
            <a:solidFill>
              <a:srgbClr val="4A62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78608" y="10424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578608" y="12252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 — but not missing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19472" y="1097280"/>
            <a:ext cx="0" cy="694944"/>
          </a:xfrm>
          <a:prstGeom prst="line">
            <a:avLst/>
          </a:prstGeom>
          <a:noFill/>
          <a:ln w="5080">
            <a:solidFill>
              <a:srgbClr val="4A62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10912" y="10424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10912" y="12252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 → 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45936" y="1097280"/>
            <a:ext cx="0" cy="694944"/>
          </a:xfrm>
          <a:prstGeom prst="line">
            <a:avLst/>
          </a:prstGeom>
          <a:noFill/>
          <a:ln w="5080">
            <a:solidFill>
              <a:srgbClr val="4A62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0424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437376" y="122529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 means no FTP/HTTP activity in that flow.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is semantically correct.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011680"/>
            <a:ext cx="8503920" cy="877824"/>
          </a:xfrm>
          <a:prstGeom prst="rect">
            <a:avLst/>
          </a:prstGeom>
          <a:solidFill>
            <a:srgbClr val="243447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011680"/>
            <a:ext cx="54864" cy="87782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0574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attack_cat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487168" y="2103120"/>
            <a:ext cx="0" cy="694944"/>
          </a:xfrm>
          <a:prstGeom prst="line">
            <a:avLst/>
          </a:prstGeom>
          <a:noFill/>
          <a:ln w="5080">
            <a:solidFill>
              <a:srgbClr val="4A627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78608" y="20482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578608" y="22311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"nan" stored as literal string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19472" y="2103120"/>
            <a:ext cx="0" cy="694944"/>
          </a:xfrm>
          <a:prstGeom prst="line">
            <a:avLst/>
          </a:prstGeom>
          <a:noFill/>
          <a:ln w="5080">
            <a:solidFill>
              <a:srgbClr val="4A627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10912" y="20482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10912" y="22311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 → "Normal"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45936" y="2103120"/>
            <a:ext cx="0" cy="694944"/>
          </a:xfrm>
          <a:prstGeom prst="line">
            <a:avLst/>
          </a:prstGeom>
          <a:noFill/>
          <a:ln w="5080">
            <a:solidFill>
              <a:srgbClr val="4A627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20482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437376" y="223113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CSVs write the string "nan" for normal flows.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15 multiclass needs a clean label.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3017520"/>
            <a:ext cx="8503920" cy="877824"/>
          </a:xfrm>
          <a:prstGeom prst="rect">
            <a:avLst/>
          </a:prstGeom>
          <a:solidFill>
            <a:srgbClr val="243447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017520"/>
            <a:ext cx="54864" cy="877824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063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sport / dsport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487168" y="3108960"/>
            <a:ext cx="0" cy="694944"/>
          </a:xfrm>
          <a:prstGeom prst="line">
            <a:avLst/>
          </a:prstGeom>
          <a:noFill/>
          <a:ln w="5080">
            <a:solidFill>
              <a:srgbClr val="4A627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78608" y="30540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578608" y="32369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 strings e.g. 0xC3B2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19472" y="3108960"/>
            <a:ext cx="0" cy="694944"/>
          </a:xfrm>
          <a:prstGeom prst="line">
            <a:avLst/>
          </a:prstGeom>
          <a:noFill/>
          <a:ln w="5080">
            <a:solidFill>
              <a:srgbClr val="4A627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10912" y="30540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010912" y="32369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Cast → nullable Int32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45936" y="3108960"/>
            <a:ext cx="0" cy="694944"/>
          </a:xfrm>
          <a:prstGeom prst="line">
            <a:avLst/>
          </a:prstGeom>
          <a:noFill/>
          <a:ln w="5080">
            <a:solidFill>
              <a:srgbClr val="4A627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37376" y="30540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437376" y="323697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Nullable Int32 preserves NaN instead of silently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coercing hex values to 0.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0040" y="4023360"/>
            <a:ext cx="8503920" cy="877824"/>
          </a:xfrm>
          <a:prstGeom prst="rect">
            <a:avLst/>
          </a:prstGeom>
          <a:solidFill>
            <a:srgbClr val="243447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" y="4023360"/>
            <a:ext cx="54864" cy="87782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4069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numeric cols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487168" y="4114800"/>
            <a:ext cx="0" cy="694944"/>
          </a:xfrm>
          <a:prstGeom prst="line">
            <a:avLst/>
          </a:prstGeom>
          <a:noFill/>
          <a:ln w="5080">
            <a:solidFill>
              <a:srgbClr val="4A627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78608" y="40599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578608" y="42428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float64 — wastes RAM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919472" y="4114800"/>
            <a:ext cx="0" cy="694944"/>
          </a:xfrm>
          <a:prstGeom prst="line">
            <a:avLst/>
          </a:prstGeom>
          <a:noFill/>
          <a:ln w="5080">
            <a:solidFill>
              <a:srgbClr val="4A627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10912" y="405993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010912" y="42428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Cast → float32 / int8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345936" y="4114800"/>
            <a:ext cx="0" cy="694944"/>
          </a:xfrm>
          <a:prstGeom prst="line">
            <a:avLst/>
          </a:prstGeom>
          <a:noFill/>
          <a:ln w="5080">
            <a:solidFill>
              <a:srgbClr val="4A627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37376" y="40599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437376" y="424281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float32 is sufficient precision for network stats.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Halves memory: 2.5M rows × 49 cols.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Encoding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667512"/>
            <a:ext cx="8321040" cy="0"/>
          </a:xfrm>
          <a:prstGeom prst="line">
            <a:avLst/>
          </a:prstGeom>
          <a:noFill/>
          <a:ln w="10160">
            <a:solidFill>
              <a:srgbClr val="0096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0408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OrdinalEncoder, not OneHotEncoder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3931920" cy="3931920"/>
          </a:xfrm>
          <a:prstGeom prst="rect">
            <a:avLst/>
          </a:prstGeom>
          <a:solidFill>
            <a:srgbClr val="243447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3931920" cy="32918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332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encoded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426464"/>
            <a:ext cx="3657600" cy="868680"/>
          </a:xfrm>
          <a:prstGeom prst="rect">
            <a:avLst/>
          </a:prstGeom>
          <a:solidFill>
            <a:srgbClr val="1B2A3B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6928" y="14813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17465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TCP, UDP, ICMP, …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66928" y="19568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~130 unique values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26080" y="17190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integer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432304"/>
            <a:ext cx="3657600" cy="868680"/>
          </a:xfrm>
          <a:prstGeom prst="rect">
            <a:avLst/>
          </a:prstGeom>
          <a:solidFill>
            <a:srgbClr val="1B2A3B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6928" y="24871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" y="275234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FIN, INT, CON, …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6928" y="29626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 unique values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926080" y="272491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integer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438144"/>
            <a:ext cx="3657600" cy="868680"/>
          </a:xfrm>
          <a:prstGeom prst="rect">
            <a:avLst/>
          </a:prstGeom>
          <a:solidFill>
            <a:srgbClr val="1B2A3B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66928" y="34930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" y="37581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http, ftp, dns, …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66928" y="39684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 unique values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926080" y="37307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integer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434840" y="1005840"/>
            <a:ext cx="4389120" cy="3931920"/>
          </a:xfrm>
          <a:prstGeom prst="rect">
            <a:avLst/>
          </a:prstGeom>
          <a:solidFill>
            <a:srgbClr val="243447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34840" y="1005840"/>
            <a:ext cx="4389120" cy="32918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26280" y="10332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OrdinalEncoder — decision rationale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1426464"/>
            <a:ext cx="4114800" cy="749808"/>
          </a:xfrm>
          <a:prstGeom prst="rect">
            <a:avLst/>
          </a:prstGeom>
          <a:solidFill>
            <a:srgbClr val="1B2A3B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63440" y="1472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74336" y="148132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models don't need OHE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74336" y="17373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XGBoost, LightGBM, and Random Forest split on thresholds — integer codes work identically to one-hot columns.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0" y="2304288"/>
            <a:ext cx="4114800" cy="749808"/>
          </a:xfrm>
          <a:prstGeom prst="rect">
            <a:avLst/>
          </a:prstGeom>
          <a:solidFill>
            <a:srgbClr val="1B2A3B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663440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974336" y="235915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1 col vs 130 cols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74336" y="261518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 proto (130 categories) would add 130 binary columns. Ordinal keeps it 1.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0" y="3182112"/>
            <a:ext cx="4114800" cy="749808"/>
          </a:xfrm>
          <a:prstGeom prst="rect">
            <a:avLst/>
          </a:prstGeom>
          <a:solidFill>
            <a:srgbClr val="1B2A3B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663440" y="3227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974336" y="323697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categories → -1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74336" y="34930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handle_unknown='use_encoded_value' means new protocols at inference time map to -1 safely, no crash.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0" y="4059936"/>
            <a:ext cx="4114800" cy="749808"/>
          </a:xfrm>
          <a:prstGeom prst="rect">
            <a:avLst/>
          </a:prstGeom>
          <a:solidFill>
            <a:srgbClr val="1B2A3B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663440" y="4105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974336" y="411480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 train only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974336" y="437083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fitted on X_train, then applied to X_test. Test categories never influence the mapping.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Transform  (log1p)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667512"/>
            <a:ext cx="8321040" cy="0"/>
          </a:xfrm>
          <a:prstGeom prst="line">
            <a:avLst/>
          </a:prstGeom>
          <a:noFill/>
          <a:ln w="10160">
            <a:solidFill>
              <a:srgbClr val="0096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0408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of 59 features transformed — why this matters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640080"/>
          </a:xfrm>
          <a:prstGeom prst="rect">
            <a:avLst/>
          </a:prstGeom>
          <a:solidFill>
            <a:srgbClr val="243447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05156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log1p(x)  =  log(1 + x)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74920" y="11704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for zero values — no log(0) error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783080"/>
            <a:ext cx="2743200" cy="3154680"/>
          </a:xfrm>
          <a:prstGeom prst="rect">
            <a:avLst/>
          </a:prstGeom>
          <a:solidFill>
            <a:srgbClr val="243447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783080"/>
            <a:ext cx="2743200" cy="329184"/>
          </a:xfrm>
          <a:prstGeom prst="rect">
            <a:avLst/>
          </a:prstGeom>
          <a:solidFill>
            <a:srgbClr val="E63946">
              <a:alpha val="80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013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Problem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2176272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features (sbytes, dur, flow_rate)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" y="2679192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extremely right-skewed.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9768" y="3182112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1GB transfer dominates the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9768" y="3685032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and overshadows thousands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" y="4187952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normal flows.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27832" y="1783080"/>
            <a:ext cx="2743200" cy="3154680"/>
          </a:xfrm>
          <a:prstGeom prst="rect">
            <a:avLst/>
          </a:prstGeom>
          <a:solidFill>
            <a:srgbClr val="243447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27832" y="1783080"/>
            <a:ext cx="2743200" cy="329184"/>
          </a:xfrm>
          <a:prstGeom prst="rect">
            <a:avLst/>
          </a:prstGeom>
          <a:solidFill>
            <a:srgbClr val="FF9F1C">
              <a:alpha val="80000"/>
            </a:srgbClr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9272" y="18013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Effect of log1p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2176272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Compresses the extreme right tail.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2679192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values spread out, large values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37560" y="3182112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pulled inward.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3685032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&gt; 1 → near-normal distribution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37560" y="4187952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transform.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35624" y="1783080"/>
            <a:ext cx="2743200" cy="3154680"/>
          </a:xfrm>
          <a:prstGeom prst="rect">
            <a:avLst/>
          </a:prstGeom>
          <a:solidFill>
            <a:srgbClr val="243447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35624" y="1783080"/>
            <a:ext cx="2743200" cy="329184"/>
          </a:xfrm>
          <a:prstGeom prst="rect">
            <a:avLst/>
          </a:prstGeom>
          <a:solidFill>
            <a:srgbClr val="2DC653">
              <a:alpha val="80000"/>
            </a:srgbClr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27064" y="18013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Result for the model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45352" y="2176272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learns faster.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45352" y="2679192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feature dominates splits.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45352" y="3182112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columns identified by skew &gt; 1 threshold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45352" y="3685032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X_train only.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45352" y="4187952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column list applied to X_test.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5047488"/>
            <a:ext cx="8503920" cy="292608"/>
          </a:xfrm>
          <a:prstGeom prst="rect">
            <a:avLst/>
          </a:prstGeom>
          <a:solidFill>
            <a:srgbClr val="1B2A3B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7200" y="508406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B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skewed: dur (634)  ·  trans_depth (157)  ·  sbytes (142)  ·  sloss (115)  ·  Djit (99)  ·  Sjit (48)  …and 30 more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Split Regimes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667512"/>
            <a:ext cx="8321040" cy="0"/>
          </a:xfrm>
          <a:prstGeom prst="line">
            <a:avLst/>
          </a:prstGeom>
          <a:noFill/>
          <a:ln w="10160">
            <a:solidFill>
              <a:srgbClr val="0096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0408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best-case learning vs deployment reality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3520440"/>
          </a:xfrm>
          <a:prstGeom prst="rect">
            <a:avLst/>
          </a:prstGeom>
          <a:solidFill>
            <a:srgbClr val="243447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114800" cy="34747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875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Split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554480" y="1417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Shuffled, stratified 80/20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17647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554480" y="17647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X_train_bal  (SMOTE 50/50)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1122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554480" y="21122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X_test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24597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554480" y="24597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can this model learn?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28072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554480" y="28072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— best-case ceiling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3154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rate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554480" y="3154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~32% (preserved by stratify)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960120"/>
            <a:ext cx="4114800" cy="3520440"/>
          </a:xfrm>
          <a:prstGeom prst="rect">
            <a:avLst/>
          </a:prstGeom>
          <a:solidFill>
            <a:srgbClr val="243447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960120"/>
            <a:ext cx="4114800" cy="34747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9875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Split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92040" y="14173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108192" y="1417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Stime, first 80% / last 20%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92040" y="17647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08192" y="17647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X_tr_time_bal  (SMOTE 50/50)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92040" y="21122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08192" y="21122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X_te_time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92040" y="24597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08192" y="24597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will it deploy?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92040" y="28072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08192" y="28072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— realistic ceiling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92040" y="3154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rate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08192" y="3154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~11% train  /  ~19% test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4590288"/>
            <a:ext cx="8595360" cy="384048"/>
          </a:xfrm>
          <a:prstGeom prst="rect">
            <a:avLst/>
          </a:prstGeom>
          <a:solidFill>
            <a:srgbClr val="1B2A3B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11480" y="463600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splits receive SMOTE — the only variable between them is the split strategy itself, not the class distribution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5010912"/>
            <a:ext cx="8595360" cy="292608"/>
          </a:xfrm>
          <a:prstGeom prst="rect">
            <a:avLst/>
          </a:prstGeom>
          <a:solidFill>
            <a:srgbClr val="1B2A3B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11480" y="504748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= 0.0001–0.0004 ROC-AUC → models learn genuine attack patterns, not time-correlated shortcuts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667512"/>
            <a:ext cx="8321040" cy="0"/>
          </a:xfrm>
          <a:prstGeom prst="line">
            <a:avLst/>
          </a:prstGeom>
          <a:noFill/>
          <a:ln w="10160">
            <a:solidFill>
              <a:srgbClr val="0096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0408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new features created from raw IPs and flow statistics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60520" cy="2029968"/>
          </a:xfrm>
          <a:prstGeom prst="rect">
            <a:avLst/>
          </a:prstGeom>
          <a:solidFill>
            <a:srgbClr val="243447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160520" cy="274320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3327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Topology Flags  (×8)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" y="133502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src/dst_is_private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153619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vs internet traffic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4048" y="175564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src/dst_is_global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" y="195681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External-facing IPs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84048" y="217627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src/dst_is_multicast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" y="237744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/ multicast patterns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84048" y="259689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src/dst_version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" y="279806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 vs IPv6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09160" y="1005840"/>
            <a:ext cx="4160520" cy="1188720"/>
          </a:xfrm>
          <a:prstGeom prst="rect">
            <a:avLst/>
          </a:prstGeom>
          <a:solidFill>
            <a:srgbClr val="243447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005840"/>
            <a:ext cx="4160520" cy="274320"/>
          </a:xfrm>
          <a:prstGeom prst="rect">
            <a:avLst/>
          </a:prstGeom>
          <a:solidFill>
            <a:srgbClr val="48CAE4">
              <a:alpha val="85000"/>
            </a:srgbClr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03327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  (×2)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18888" y="133502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src_subnet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18888" y="153619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2 octets of source IPv4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18888" y="175564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dst_subnet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18888" y="195681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2 octets of destination IPv4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163824"/>
            <a:ext cx="4160520" cy="1188720"/>
          </a:xfrm>
          <a:prstGeom prst="rect">
            <a:avLst/>
          </a:prstGeom>
          <a:solidFill>
            <a:srgbClr val="243447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163824"/>
            <a:ext cx="4160520" cy="274320"/>
          </a:xfrm>
          <a:prstGeom prst="rect">
            <a:avLst/>
          </a:prstGeom>
          <a:solidFill>
            <a:srgbClr val="FF9F1C">
              <a:alpha val="85000"/>
            </a:srgbClr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19125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Frequency  (×2)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84048" y="349300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src_freq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4048" y="369417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this source appears in training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84048" y="391363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dst_freq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4048" y="411480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this destination appears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09160" y="2322576"/>
            <a:ext cx="4160520" cy="768096"/>
          </a:xfrm>
          <a:prstGeom prst="rect">
            <a:avLst/>
          </a:prstGeom>
          <a:solidFill>
            <a:srgbClr val="243447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322576"/>
            <a:ext cx="4160520" cy="274320"/>
          </a:xfrm>
          <a:prstGeom prst="rect">
            <a:avLst/>
          </a:prstGeom>
          <a:solidFill>
            <a:srgbClr val="FFD166">
              <a:alpha val="8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35000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Behaviour  (×1)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18888" y="265176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src_unique_dst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18888" y="285292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destinations contacted by source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4480560"/>
            <a:ext cx="4160520" cy="2029968"/>
          </a:xfrm>
          <a:prstGeom prst="rect">
            <a:avLst/>
          </a:prstGeom>
          <a:solidFill>
            <a:srgbClr val="243447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4480560"/>
            <a:ext cx="4160520" cy="274320"/>
          </a:xfrm>
          <a:prstGeom prst="rect">
            <a:avLst/>
          </a:prstGeom>
          <a:solidFill>
            <a:srgbClr val="2DC653">
              <a:alpha val="85000"/>
            </a:srgbClr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50799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Statistics  (×4)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84048" y="480974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total_bytes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84048" y="501091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sbytes + dbytes — total volume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84048" y="523036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byte_ratio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84048" y="543153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log1p(sbytes) − log1p(dbytes) — directional asymmetry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84048" y="565099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bytes_per_packet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84048" y="58521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payload per packet — small = scanning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84048" y="607161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flow_rate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84048" y="627278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/ (dur+0.001) — high = exfiltration risk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74320" y="4846320"/>
            <a:ext cx="8595360" cy="347472"/>
          </a:xfrm>
          <a:prstGeom prst="rect">
            <a:avLst/>
          </a:prstGeom>
          <a:solidFill>
            <a:srgbClr val="1B2A3B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11480" y="488289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duration_time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828800" y="489204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Ltime − Stime  =  exact integer-second duration (more precise than raw 'dur' float)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667512"/>
            <a:ext cx="8321040" cy="0"/>
          </a:xfrm>
          <a:prstGeom prst="line">
            <a:avLst/>
          </a:prstGeom>
          <a:noFill/>
          <a:ln w="10160">
            <a:solidFill>
              <a:srgbClr val="0096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0408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three — and what each contributes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834640" cy="4069080"/>
          </a:xfrm>
          <a:prstGeom prst="rect">
            <a:avLst/>
          </a:prstGeom>
          <a:solidFill>
            <a:srgbClr val="243447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2834640" cy="384048"/>
          </a:xfrm>
          <a:prstGeom prst="rect">
            <a:avLst/>
          </a:prstGeom>
          <a:solidFill>
            <a:srgbClr val="00B4D8">
              <a:alpha val="9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8755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11680" y="103327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84248" y="1024128"/>
            <a:ext cx="1005840" cy="2468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103327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38328" y="141732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74904" y="161848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n_estimators: 1000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74904" y="189280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learning_rate: 0.05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74904" y="216712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max_depth: 6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74904" y="244144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early_stopping: 30 rounds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74904" y="271576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subsample: 0.8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8328" y="3017520"/>
            <a:ext cx="2615184" cy="0"/>
          </a:xfrm>
          <a:prstGeom prst="line">
            <a:avLst/>
          </a:prstGeom>
          <a:noFill/>
          <a:ln w="5080">
            <a:solidFill>
              <a:srgbClr val="4A627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" y="3072384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Depth-first tree growth. Gold standard for tabular data competitions. Strong regularisation via subsampling.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38328" y="3639312"/>
            <a:ext cx="2615184" cy="0"/>
          </a:xfrm>
          <a:prstGeom prst="line">
            <a:avLst/>
          </a:prstGeom>
          <a:noFill/>
          <a:ln w="5080">
            <a:solidFill>
              <a:srgbClr val="4A627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3694176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on 3M+ rows. Both models hit 1000-tree ceiling → Phase 17 raises limit.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00400" y="960120"/>
            <a:ext cx="2834640" cy="4069080"/>
          </a:xfrm>
          <a:prstGeom prst="rect">
            <a:avLst/>
          </a:prstGeom>
          <a:solidFill>
            <a:srgbClr val="243447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960120"/>
            <a:ext cx="2834640" cy="384048"/>
          </a:xfrm>
          <a:prstGeom prst="rect">
            <a:avLst/>
          </a:prstGeom>
          <a:solidFill>
            <a:srgbClr val="48CAE4">
              <a:alpha val="90000"/>
            </a:srgbClr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98755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83480" y="103327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Chosen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956048" y="1024128"/>
            <a:ext cx="1005840" cy="246888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103327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Chosen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310128" y="141732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346704" y="161848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n_estimators: 1000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346704" y="189280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learning_rate: 0.05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346704" y="216712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num_leaves: 63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346704" y="244144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early_stopping: 30 rounds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346704" y="271576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colsample_bytree: 0.8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310128" y="3017520"/>
            <a:ext cx="2615184" cy="0"/>
          </a:xfrm>
          <a:prstGeom prst="line">
            <a:avLst/>
          </a:prstGeom>
          <a:noFill/>
          <a:ln w="5080">
            <a:solidFill>
              <a:srgbClr val="4A627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10128" y="3072384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Leaf-wise growth. 3–5× faster than XGBoost on large datasets. Wins every metric on the time-based test.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310128" y="3639312"/>
            <a:ext cx="2615184" cy="0"/>
          </a:xfrm>
          <a:prstGeom prst="line">
            <a:avLst/>
          </a:prstGeom>
          <a:noFill/>
          <a:ln w="5080">
            <a:solidFill>
              <a:srgbClr val="4A627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10128" y="3694176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0.9997 on time test. Gap vs random split: only 0.0001. Fewest false positives: 4,894.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172200" y="960120"/>
            <a:ext cx="2834640" cy="4069080"/>
          </a:xfrm>
          <a:prstGeom prst="rect">
            <a:avLst/>
          </a:prstGeom>
          <a:solidFill>
            <a:srgbClr val="243447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72200" y="960120"/>
            <a:ext cx="2834640" cy="384048"/>
          </a:xfrm>
          <a:prstGeom prst="rect">
            <a:avLst/>
          </a:prstGeom>
          <a:solidFill>
            <a:srgbClr val="FF9F1C">
              <a:alpha val="90000"/>
            </a:srgbClr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98755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955280" y="103327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baseline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927848" y="1024128"/>
            <a:ext cx="1005840" cy="246888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55280" y="103327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baseline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281928" y="141732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318504" y="161848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n_estimators: 300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18504" y="189280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max_depth: 20 (capped)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318504" y="216712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max_features: sqrt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318504" y="244144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early stopping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318504" y="271576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n_jobs: -1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281928" y="3017520"/>
            <a:ext cx="2615184" cy="0"/>
          </a:xfrm>
          <a:prstGeom prst="line">
            <a:avLst/>
          </a:prstGeom>
          <a:noFill/>
          <a:ln w="5080">
            <a:solidFill>
              <a:srgbClr val="4A627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81928" y="3072384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of independent trees — different inductive bias from boosting. Robust to outliers. No hyperparameter sensitivity.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281928" y="3639312"/>
            <a:ext cx="2615184" cy="0"/>
          </a:xfrm>
          <a:prstGeom prst="line">
            <a:avLst/>
          </a:prstGeom>
          <a:noFill/>
          <a:ln w="5080">
            <a:solidFill>
              <a:srgbClr val="4A627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81928" y="3694176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memory. Slower inference. Used as a sanity check: if RF &gt;&gt; boosting, data has simple structure.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28600" y="5102352"/>
            <a:ext cx="8686800" cy="274320"/>
          </a:xfrm>
          <a:prstGeom prst="rect">
            <a:avLst/>
          </a:prstGeom>
          <a:solidFill>
            <a:srgbClr val="1B2A3B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365760" y="51389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trained on both splits (random + time) = 6 binary classifiers. eval_metric = logloss — penalises confident wrong predictions.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667512"/>
            <a:ext cx="8321040" cy="0"/>
          </a:xfrm>
          <a:prstGeom prst="line">
            <a:avLst/>
          </a:prstGeom>
          <a:noFill/>
          <a:ln w="10160">
            <a:solidFill>
              <a:srgbClr val="0096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0408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0.5 is rarely optimal for IDS — shift based on operational cost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114800" cy="4069080"/>
          </a:xfrm>
          <a:prstGeom prst="rect">
            <a:avLst/>
          </a:prstGeom>
          <a:solidFill>
            <a:srgbClr val="243447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4114800" cy="32918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332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tradeoff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26464"/>
            <a:ext cx="3749040" cy="1005840"/>
          </a:xfrm>
          <a:prstGeom prst="rect">
            <a:avLst/>
          </a:prstGeom>
          <a:solidFill>
            <a:srgbClr val="1B2A3B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426464"/>
            <a:ext cx="54864" cy="100584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4813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Threshold (e.g. 0.3)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174650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attacks flagged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195681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More false alarms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596896"/>
            <a:ext cx="3749040" cy="1005840"/>
          </a:xfrm>
          <a:prstGeom prst="rect">
            <a:avLst/>
          </a:prstGeom>
          <a:solidFill>
            <a:srgbClr val="1B2A3B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96896"/>
            <a:ext cx="54864" cy="10058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65176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Threshold (e.g. 0.7)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291693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false alarms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1272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More missed attacks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767328"/>
            <a:ext cx="3749040" cy="1005840"/>
          </a:xfrm>
          <a:prstGeom prst="rect">
            <a:avLst/>
          </a:prstGeom>
          <a:solidFill>
            <a:srgbClr val="1B2A3B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767328"/>
            <a:ext cx="54864" cy="100584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8221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threshold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08736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 F1 (Attack)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42976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Balance P and 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17720" y="1005840"/>
            <a:ext cx="4206240" cy="4069080"/>
          </a:xfrm>
          <a:prstGeom prst="rect">
            <a:avLst/>
          </a:prstGeom>
          <a:solidFill>
            <a:srgbClr val="243447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17720" y="1005840"/>
            <a:ext cx="4206240" cy="32918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332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find it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09160" y="1536192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1545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93792" y="147218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predicted probabilities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93792" y="171907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model.predict_proba(X_val)[:, 1]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09160" y="2249424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93792" y="218541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thresholds 0.1 → 0.9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93792" y="243230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 in np.arange(0.1, 0.9, 0.01)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09160" y="2962656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93792" y="289864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threshold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93792" y="314553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f1_score(y_val, probs &gt;= t, pos_label=1)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09160" y="3675888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193792" y="361188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max F1 threshold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193792" y="385876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best_t = thresholds[np.argmax(f1_scores)]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09160" y="438912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4398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193792" y="432511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to test set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193792" y="457200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 = (y_prob &gt;= best_t).astype(int)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20040" y="5138928"/>
            <a:ext cx="8503920" cy="256032"/>
          </a:xfrm>
          <a:prstGeom prst="rect">
            <a:avLst/>
          </a:prstGeom>
          <a:solidFill>
            <a:srgbClr val="1B2A3B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57200" y="517550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results: both models already achieve recall=1.00 at default 0.5 on time test. Threshold tuning can shift precision higher if false alarms become operationally costly.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— RandomizedSearchCV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667512"/>
            <a:ext cx="8321040" cy="0"/>
          </a:xfrm>
          <a:prstGeom prst="line">
            <a:avLst/>
          </a:prstGeom>
          <a:noFill/>
          <a:ln w="10160">
            <a:solidFill>
              <a:srgbClr val="0096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0408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trials × 5-fold CV on 20% subsample, then re-train on full data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5029200" cy="1005840"/>
          </a:xfrm>
          <a:prstGeom prst="rect">
            <a:avLst/>
          </a:prstGeom>
          <a:solidFill>
            <a:srgbClr val="243447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5029200" cy="2743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7840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 vs GridSearch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26187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GridSearch: 5 params × 4 values = 1,024 fits  |  RandomizedSearch: 30 fits  |  Near-optimal in far fewer trials  (Bergstra &amp; Bengio 2012)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532120" y="960120"/>
            <a:ext cx="3291840" cy="1005840"/>
          </a:xfrm>
          <a:prstGeom prst="rect">
            <a:avLst/>
          </a:prstGeom>
          <a:solidFill>
            <a:srgbClr val="243447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532120" y="960120"/>
            <a:ext cx="3291840" cy="2743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23560" y="97840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subsample for speed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23560" y="126187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on 3.5M rows ≈ hours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subsample ≈ minutes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params → re-train on 100% data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103120"/>
            <a:ext cx="5029200" cy="2999232"/>
          </a:xfrm>
          <a:prstGeom prst="rect">
            <a:avLst/>
          </a:prstGeom>
          <a:solidFill>
            <a:srgbClr val="243447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103120"/>
            <a:ext cx="5029200" cy="292608"/>
          </a:xfrm>
          <a:prstGeom prst="rect">
            <a:avLst/>
          </a:prstGeom>
          <a:solidFill>
            <a:srgbClr val="4A6274"/>
          </a:solidFill>
          <a:ln w="12700">
            <a:solidFill>
              <a:srgbClr val="4A62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12140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search space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450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240280" y="245059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randint(200, 1200)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27614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learning_rate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40280" y="276148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uniform(0.01, 0.15)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30723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num_leaves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240280" y="307238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randint(31, 256)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" y="33832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240280" y="338328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randint(5, 20)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7200" y="36941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subsample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240280" y="369417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uniform(0.6, 0.4)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7200" y="40050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min_child_samples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240280" y="400507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randint(10, 100)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43159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reg_alpha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240280" y="431596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uniform(0, 1)  ← L1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7200" y="462686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reg_lambda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240280" y="462686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uniform(0, 1)  ← L2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532120" y="2103120"/>
            <a:ext cx="3291840" cy="2999232"/>
          </a:xfrm>
          <a:prstGeom prst="rect">
            <a:avLst/>
          </a:prstGeom>
          <a:solidFill>
            <a:srgbClr val="243447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532120" y="2103120"/>
            <a:ext cx="3291840" cy="292608"/>
          </a:xfrm>
          <a:prstGeom prst="rect">
            <a:avLst/>
          </a:prstGeom>
          <a:solidFill>
            <a:srgbClr val="4A6274"/>
          </a:solidFill>
          <a:ln w="12700">
            <a:solidFill>
              <a:srgbClr val="4A627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23560" y="212140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workflow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596128" y="2450592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96128" y="2459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089904" y="2478024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metrics_summary.csv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089904" y="2670048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Auto-select best time-test model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596128" y="2889504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96128" y="2898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089904" y="2916936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stratified subsample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089904" y="3108960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on representative subset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596128" y="3328416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96128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089904" y="335584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30-trial RandomizedSearchCV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089904" y="3547872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ROC-AUC, 5-fold CV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596128" y="3767328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96128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089904" y="3794760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Re-train on full data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089904" y="3986784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params + 100% training rows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596128" y="420624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96128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089904" y="4233672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+ compare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089904" y="4425696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table vs baseline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596128" y="4645152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596128" y="4654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089904" y="4672584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artifacts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089904" y="4864608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model + cv_results.csv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20040" y="5175504"/>
            <a:ext cx="8503920" cy="237744"/>
          </a:xfrm>
          <a:prstGeom prst="rect">
            <a:avLst/>
          </a:prstGeom>
          <a:solidFill>
            <a:srgbClr val="1B2A3B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457200" y="52120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hit n_estimators=1000 ceiling without early stopping → tuning must search up to 2000+ to unlock further gains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Calibration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667512"/>
            <a:ext cx="8321040" cy="0"/>
          </a:xfrm>
          <a:prstGeom prst="line">
            <a:avLst/>
          </a:prstGeom>
          <a:noFill/>
          <a:ln w="10160">
            <a:solidFill>
              <a:srgbClr val="0096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0408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raw model probabilities are misleading — and how to fix them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841248"/>
          </a:xfrm>
          <a:prstGeom prst="rect">
            <a:avLst/>
          </a:prstGeom>
          <a:solidFill>
            <a:srgbClr val="243447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54864" cy="84124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332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298448"/>
            <a:ext cx="8275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models are trained to minimise logloss — not to output calibrated probabilities. A model that says p=0.9 doesn't mean '90% chance of attack'. In practice, boosting models tend to push probabilities towards 0 and 1 (overconfident) or cluster them in the middle. This makes the raw probability score unreliable for risk scoring, alert prioritisation, or setting custom thresholds based on operational cost.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965960"/>
            <a:ext cx="4114800" cy="3246120"/>
          </a:xfrm>
          <a:prstGeom prst="rect">
            <a:avLst/>
          </a:prstGeom>
          <a:solidFill>
            <a:srgbClr val="243447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965960"/>
            <a:ext cx="4114800" cy="310896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842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 Scaling  (recommended)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35915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34440" y="2359152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logistic regression on top of the model's raw output scores using a held-out calibration set.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9077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234440" y="2907792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decision function scores (not probabilities)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4564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234440" y="3456432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probabilities that match actual frequency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0050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34440" y="4005072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CalibratedClassifierCV(model, method='sigmoid', cv='prefit')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455371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234440" y="4553712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training, before saving for inference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17720" y="1965960"/>
            <a:ext cx="4206240" cy="3246120"/>
          </a:xfrm>
          <a:prstGeom prst="rect">
            <a:avLst/>
          </a:prstGeom>
          <a:solidFill>
            <a:srgbClr val="243447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17720" y="1965960"/>
            <a:ext cx="4206240" cy="310896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19842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calibrate for IDS inference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359152"/>
            <a:ext cx="3931920" cy="621792"/>
          </a:xfrm>
          <a:prstGeom prst="rect">
            <a:avLst/>
          </a:prstGeom>
          <a:solidFill>
            <a:srgbClr val="1B2A3B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359152"/>
            <a:ext cx="54864" cy="62179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4140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Risk scoring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937760" y="2651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p=0.92 should mean 92% of flows with this score are attacks — enabling tiered alerting.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3072384"/>
            <a:ext cx="3931920" cy="621792"/>
          </a:xfrm>
          <a:prstGeom prst="rect">
            <a:avLst/>
          </a:prstGeom>
          <a:solidFill>
            <a:srgbClr val="1B2A3B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072384"/>
            <a:ext cx="54864" cy="62179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1272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threshold reliability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37760" y="33649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 only works correctly if the probability scale is meaningful.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3785616"/>
            <a:ext cx="3931920" cy="621792"/>
          </a:xfrm>
          <a:prstGeom prst="rect">
            <a:avLst/>
          </a:prstGeom>
          <a:solidFill>
            <a:srgbClr val="1B2A3B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3785616"/>
            <a:ext cx="54864" cy="62179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38404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Alert prioritisation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937760" y="40782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teams can sort alerts by calibrated probability and tackle highest-confidence first.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4498848"/>
            <a:ext cx="3931920" cy="621792"/>
          </a:xfrm>
          <a:prstGeom prst="rect">
            <a:avLst/>
          </a:prstGeom>
          <a:solidFill>
            <a:srgbClr val="1B2A3B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4498848"/>
            <a:ext cx="54864" cy="621792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45537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Use a separate calibration set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937760" y="47914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calibrate on the training set. Use a fresh hold-out split to avoid over-fitting the calibration.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0040" y="5285232"/>
            <a:ext cx="8503920" cy="256032"/>
          </a:xfrm>
          <a:prstGeom prst="rect">
            <a:avLst/>
          </a:prstGeom>
          <a:solidFill>
            <a:srgbClr val="1B2A3B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57200" y="53218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sklearn.calibration import CalibratedClassifierCV   |   calibrated = CalibratedClassifierCV(lgb_time, method='sigmoid', cv='prefit')   |   calibrated.fit(X_cal, y_cal)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Chosen Model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667512"/>
            <a:ext cx="8321040" cy="0"/>
          </a:xfrm>
          <a:prstGeom prst="line">
            <a:avLst/>
          </a:prstGeom>
          <a:noFill/>
          <a:ln w="10160">
            <a:solidFill>
              <a:srgbClr val="0096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0408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models tested — LightGBM time-split selected for deployment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7178040" cy="29260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" y="96012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55064" y="960120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52344" y="960120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75304" y="960120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98264" y="960120"/>
            <a:ext cx="704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 (Atk)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175504" y="960120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(Atk)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98464" y="96012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(Atk)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29984" y="960120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Cross-eval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1252728"/>
            <a:ext cx="7178040" cy="292608"/>
          </a:xfrm>
          <a:prstGeom prst="rect">
            <a:avLst/>
          </a:prstGeom>
          <a:solidFill>
            <a:srgbClr val="243447"/>
          </a:solidFill>
          <a:ln w="3810">
            <a:solidFill>
              <a:srgbClr val="4A62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" y="1252728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55064" y="1252728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52344" y="125272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0.9998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75304" y="125272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99.44%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98264" y="1252728"/>
            <a:ext cx="704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0.9751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175504" y="125272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0.9811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98464" y="125272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0.9781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29984" y="125272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0.9994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1545336"/>
            <a:ext cx="7178040" cy="292608"/>
          </a:xfrm>
          <a:prstGeom prst="rect">
            <a:avLst/>
          </a:prstGeom>
          <a:solidFill>
            <a:srgbClr val="1B2A3B"/>
          </a:solidFill>
          <a:ln w="3810">
            <a:solidFill>
              <a:srgbClr val="4A627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" y="1545336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55064" y="1545336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52344" y="1545336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0.9998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575304" y="1545336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99.52%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398264" y="1545336"/>
            <a:ext cx="704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0.9804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75504" y="1545336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0.9815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98464" y="1545336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0.9809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729984" y="1545336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0.9997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" y="1837944"/>
            <a:ext cx="7178040" cy="292608"/>
          </a:xfrm>
          <a:prstGeom prst="rect">
            <a:avLst/>
          </a:prstGeom>
          <a:solidFill>
            <a:srgbClr val="243447"/>
          </a:solidFill>
          <a:ln w="3810">
            <a:solidFill>
              <a:srgbClr val="4A627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4904" y="1837944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655064" y="1837944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752344" y="1837944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0.9998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575304" y="1837944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99.40%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398264" y="1837944"/>
            <a:ext cx="704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0.9672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75504" y="1837944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0.9864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998464" y="183794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0.9767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729984" y="1837944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0.9998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0040" y="2130552"/>
            <a:ext cx="7178040" cy="292608"/>
          </a:xfrm>
          <a:prstGeom prst="rect">
            <a:avLst/>
          </a:prstGeom>
          <a:solidFill>
            <a:srgbClr val="1B2A3B"/>
          </a:solidFill>
          <a:ln w="3810">
            <a:solidFill>
              <a:srgbClr val="4A627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4904" y="2130552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655064" y="2130552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752344" y="213055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0.9995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575304" y="213055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98.77%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398264" y="2130552"/>
            <a:ext cx="704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0.9553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175504" y="213055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0.9830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998464" y="213055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0.9689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729984" y="213055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20040" y="2423160"/>
            <a:ext cx="7178040" cy="292608"/>
          </a:xfrm>
          <a:prstGeom prst="rect">
            <a:avLst/>
          </a:prstGeom>
          <a:solidFill>
            <a:srgbClr val="0F3020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4904" y="242316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★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655064" y="2423160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752344" y="2423160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0.9995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575304" y="2423160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98.80%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398264" y="2423160"/>
            <a:ext cx="704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0.9583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175504" y="2423160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0.9810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998464" y="242316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0.9695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729984" y="2423160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20040" y="2715768"/>
            <a:ext cx="7178040" cy="292608"/>
          </a:xfrm>
          <a:prstGeom prst="rect">
            <a:avLst/>
          </a:prstGeom>
          <a:solidFill>
            <a:srgbClr val="1B2A3B"/>
          </a:solidFill>
          <a:ln w="3810">
            <a:solidFill>
              <a:srgbClr val="4A627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74904" y="2715768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655064" y="2715768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2752344" y="271576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0.9990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3575304" y="271576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98.77%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398264" y="2715768"/>
            <a:ext cx="704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0.9507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175504" y="271576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0.9882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998464" y="271576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0.9691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729984" y="271576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20040" y="3172968"/>
            <a:ext cx="4114800" cy="777240"/>
          </a:xfrm>
          <a:prstGeom prst="rect">
            <a:avLst/>
          </a:prstGeom>
          <a:solidFill>
            <a:srgbClr val="1B2A3B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429768" y="321868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F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Generalisation gap  (random − time ROC-AUC)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429768" y="344728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XGBoost         +0.0003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429768" y="361188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LightGBM        +0.0003   near zero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429768" y="37764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9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 Forest   +0.0008   largest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4709160" y="3172968"/>
            <a:ext cx="4114800" cy="777240"/>
          </a:xfrm>
          <a:prstGeom prst="rect">
            <a:avLst/>
          </a:prstGeom>
          <a:solidFill>
            <a:srgbClr val="0F3020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4709160" y="3172968"/>
            <a:ext cx="4114800" cy="777240"/>
          </a:xfrm>
          <a:prstGeom prst="rect">
            <a:avLst/>
          </a:prstGeom>
          <a:solidFill>
            <a:srgbClr val="0F3020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846320" y="322783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Chosen: LightGBM (time-split)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4846320" y="3483864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B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Saved as:  lgb_binary_time.txt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4846320" y="3630168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B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Also:  CHOSEN_MODEL_lgb_time.txt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4846320" y="377647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Tied best time-test ROC-AUC, smallest gap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384048" y="411480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640080" y="41148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models achieve 98.77-98.80% accuracy on time test — deployment-ready performance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384048" y="435254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640080" y="43525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wins cross-eval (0.9998) but has largest gap (+0.0008) — relies more on time patterns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384048" y="459028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640080" y="45902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and XGBoost tied for smallest gap (+0.0003) — best temporal generalisation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384048" y="482803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64008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hit 1000-tree ceiling without early stopping — Phase 17 tuning raises n_estimators to 1200+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320040" y="5102352"/>
            <a:ext cx="7178040" cy="256032"/>
          </a:xfrm>
          <a:prstGeom prst="rect">
            <a:avLst/>
          </a:prstGeom>
          <a:solidFill>
            <a:srgbClr val="1B2A3B"/>
          </a:solidFill>
          <a:ln w="63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88" name="Text 86"/>
          <p:cNvSpPr/>
          <p:nvPr/>
        </p:nvSpPr>
        <p:spPr>
          <a:xfrm>
            <a:off x="429768" y="5102352"/>
            <a:ext cx="6958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classifier for real-time detection. Multiclass for triage. Calibrate probabilities before production deployment.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IDS Pipeline — UNSW-NB15</dc:title>
  <dc:subject>PptxGenJS Presentation</dc:subject>
  <dc:creator>IDS Pipeline</dc:creator>
  <cp:lastModifiedBy>IDS Pipeline</cp:lastModifiedBy>
  <cp:revision>1</cp:revision>
  <dcterms:created xsi:type="dcterms:W3CDTF">2026-04-17T07:18:21Z</dcterms:created>
  <dcterms:modified xsi:type="dcterms:W3CDTF">2026-04-17T07:18:21Z</dcterms:modified>
</cp:coreProperties>
</file>